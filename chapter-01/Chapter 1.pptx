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7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1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8/31/2024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8/31/2024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8/31/2024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8/31/2024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8/31/2024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8/31/2024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6090" y="1193878"/>
            <a:ext cx="3214307" cy="3392186"/>
          </a:xfrm>
        </p:spPr>
        <p:txBody>
          <a:bodyPr anchor="b"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MIT 201: Advanced Data Structure &amp; Algorithm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7431" y="4507544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Master in information technology (</a:t>
            </a:r>
            <a:r>
              <a:rPr lang="en-US" sz="1600" dirty="0" err="1"/>
              <a:t>mit</a:t>
            </a:r>
            <a:r>
              <a:rPr lang="en-US" sz="1600" dirty="0"/>
              <a:t>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AB5D-B681-0092-BE5F-3EF17669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Chapter 1: Overview Data Structure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C7AB5-D11B-495B-26E6-2B15B98DE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PH" sz="2800" dirty="0"/>
              <a:t> Role of Data – Structures in Computation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PH" sz="2800" dirty="0"/>
              <a:t> Algorithm or Method versus Data Structure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PH" sz="2800" dirty="0"/>
              <a:t> Limits of Efficiency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PH" sz="2800" dirty="0"/>
              <a:t> Measuring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83098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AB5D-B681-0092-BE5F-3EF17669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Role of Data Structures in Computation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B7F777-656D-282B-3F40-01CD7A54DA19}"/>
              </a:ext>
            </a:extLst>
          </p:cNvPr>
          <p:cNvSpPr/>
          <p:nvPr/>
        </p:nvSpPr>
        <p:spPr>
          <a:xfrm>
            <a:off x="2452821" y="3995502"/>
            <a:ext cx="2104103" cy="9340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dirty="0"/>
              <a:t>1. Locate/Access data - values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19084C-3DF1-169E-704B-85B82F3E066E}"/>
              </a:ext>
            </a:extLst>
          </p:cNvPr>
          <p:cNvSpPr/>
          <p:nvPr/>
        </p:nvSpPr>
        <p:spPr>
          <a:xfrm>
            <a:off x="5023956" y="3988128"/>
            <a:ext cx="2104103" cy="9340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dirty="0"/>
              <a:t>2. Compute a value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5C3F65-FA36-533D-0933-4EAE242F629B}"/>
              </a:ext>
            </a:extLst>
          </p:cNvPr>
          <p:cNvSpPr/>
          <p:nvPr/>
        </p:nvSpPr>
        <p:spPr>
          <a:xfrm>
            <a:off x="7511517" y="3988128"/>
            <a:ext cx="2104103" cy="9340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dirty="0"/>
              <a:t>3. Store the new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6711ED-7CBA-7CB3-D60B-BD4274CF5669}"/>
              </a:ext>
            </a:extLst>
          </p:cNvPr>
          <p:cNvSpPr/>
          <p:nvPr/>
        </p:nvSpPr>
        <p:spPr>
          <a:xfrm>
            <a:off x="2226678" y="3749695"/>
            <a:ext cx="7610167" cy="1366684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>
              <a:noFill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F5124-CEC9-E1ED-238D-82A24CD9B3AB}"/>
              </a:ext>
            </a:extLst>
          </p:cNvPr>
          <p:cNvSpPr txBox="1"/>
          <p:nvPr/>
        </p:nvSpPr>
        <p:spPr>
          <a:xfrm>
            <a:off x="609600" y="4107262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External Input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28EFF8-4B5C-18B6-6FDE-B8A75F2FA618}"/>
              </a:ext>
            </a:extLst>
          </p:cNvPr>
          <p:cNvSpPr txBox="1"/>
          <p:nvPr/>
        </p:nvSpPr>
        <p:spPr>
          <a:xfrm>
            <a:off x="10435957" y="4140351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External 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DEBC36-BF33-4B2D-B79A-AE248D6CCC61}"/>
              </a:ext>
            </a:extLst>
          </p:cNvPr>
          <p:cNvCxnSpPr/>
          <p:nvPr/>
        </p:nvCxnSpPr>
        <p:spPr>
          <a:xfrm>
            <a:off x="1574800" y="4460240"/>
            <a:ext cx="65187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F32AFF-9FB0-1385-B760-3AE5FF75E6A0}"/>
              </a:ext>
            </a:extLst>
          </p:cNvPr>
          <p:cNvCxnSpPr/>
          <p:nvPr/>
        </p:nvCxnSpPr>
        <p:spPr>
          <a:xfrm>
            <a:off x="9836845" y="4472694"/>
            <a:ext cx="65187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5106E8-E6D9-D8D2-629E-B821A8954537}"/>
              </a:ext>
            </a:extLst>
          </p:cNvPr>
          <p:cNvSpPr txBox="1"/>
          <p:nvPr/>
        </p:nvSpPr>
        <p:spPr>
          <a:xfrm>
            <a:off x="3637280" y="3186176"/>
            <a:ext cx="488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Computation = Sequence of Computation 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97A83-373E-E79B-92B5-354500CCA43E}"/>
              </a:ext>
            </a:extLst>
          </p:cNvPr>
          <p:cNvSpPr txBox="1"/>
          <p:nvPr/>
        </p:nvSpPr>
        <p:spPr>
          <a:xfrm>
            <a:off x="3560424" y="2103467"/>
            <a:ext cx="5071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b="1" dirty="0"/>
              <a:t>Three Basic Computation Steps</a:t>
            </a:r>
          </a:p>
        </p:txBody>
      </p:sp>
    </p:spTree>
    <p:extLst>
      <p:ext uri="{BB962C8B-B14F-4D97-AF65-F5344CB8AC3E}">
        <p14:creationId xmlns:p14="http://schemas.microsoft.com/office/powerpoint/2010/main" val="249588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AB5D-B681-0092-BE5F-3EF17669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Role of Data Structures in Computation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97A83-373E-E79B-92B5-354500CCA43E}"/>
              </a:ext>
            </a:extLst>
          </p:cNvPr>
          <p:cNvSpPr txBox="1"/>
          <p:nvPr/>
        </p:nvSpPr>
        <p:spPr>
          <a:xfrm>
            <a:off x="1974643" y="2120418"/>
            <a:ext cx="8575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b="1" dirty="0"/>
              <a:t>Program: </a:t>
            </a:r>
            <a:r>
              <a:rPr lang="en-PH" sz="2800" dirty="0"/>
              <a:t>Algorithm + Data Structure + Implementation</a:t>
            </a:r>
            <a:endParaRPr lang="en-PH" sz="2800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3B5D22-06CE-750B-F290-8B033579F2AE}"/>
              </a:ext>
            </a:extLst>
          </p:cNvPr>
          <p:cNvSpPr/>
          <p:nvPr/>
        </p:nvSpPr>
        <p:spPr>
          <a:xfrm>
            <a:off x="1148080" y="2814320"/>
            <a:ext cx="5080000" cy="23063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000" b="1" i="1" dirty="0"/>
              <a:t>Algorithm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PH" sz="2000" dirty="0"/>
              <a:t>The basic method; it determines the data – items computed.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PH" sz="2000" dirty="0"/>
              <a:t>Determines the order in which those data – items are computed and the order or read/write data – access operations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A7F10C-48BA-8FE9-19CD-812B88BB0DB9}"/>
              </a:ext>
            </a:extLst>
          </p:cNvPr>
          <p:cNvSpPr/>
          <p:nvPr/>
        </p:nvSpPr>
        <p:spPr>
          <a:xfrm>
            <a:off x="6380480" y="2772696"/>
            <a:ext cx="4998720" cy="23063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000" b="1" i="1" dirty="0"/>
              <a:t>Data Structures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PH" sz="2000" dirty="0"/>
              <a:t>Supports efficient read/write of data items used/computed.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248E9D-DD5B-8DB8-A02A-EAFD23AD374D}"/>
              </a:ext>
            </a:extLst>
          </p:cNvPr>
          <p:cNvSpPr txBox="1"/>
          <p:nvPr/>
        </p:nvSpPr>
        <p:spPr>
          <a:xfrm>
            <a:off x="1529080" y="5291322"/>
            <a:ext cx="962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b="1" dirty="0"/>
              <a:t>Total Time = </a:t>
            </a:r>
            <a:r>
              <a:rPr lang="en-PH" dirty="0"/>
              <a:t> Time to access/store data + time to compute data</a:t>
            </a:r>
            <a:endParaRPr lang="en-PH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E4C2D-8B54-8068-4359-6C824C4F9B59}"/>
              </a:ext>
            </a:extLst>
          </p:cNvPr>
          <p:cNvSpPr txBox="1"/>
          <p:nvPr/>
        </p:nvSpPr>
        <p:spPr>
          <a:xfrm>
            <a:off x="1529080" y="5773948"/>
            <a:ext cx="96266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PH" b="1" dirty="0">
                <a:solidFill>
                  <a:srgbClr val="FF0000"/>
                </a:solidFill>
              </a:rPr>
              <a:t>Efficient Algorithm </a:t>
            </a:r>
            <a:r>
              <a:rPr lang="en-PH" b="1" dirty="0"/>
              <a:t>= </a:t>
            </a:r>
            <a:r>
              <a:rPr lang="en-PH" dirty="0"/>
              <a:t> </a:t>
            </a:r>
            <a:r>
              <a:rPr lang="en-PH" dirty="0">
                <a:solidFill>
                  <a:srgbClr val="002060"/>
                </a:solidFill>
              </a:rPr>
              <a:t>Good Method </a:t>
            </a:r>
            <a:r>
              <a:rPr lang="en-PH" dirty="0"/>
              <a:t>+ </a:t>
            </a:r>
            <a:r>
              <a:rPr lang="en-PH" dirty="0">
                <a:solidFill>
                  <a:srgbClr val="0070C0"/>
                </a:solidFill>
              </a:rPr>
              <a:t>Good Data-Structures </a:t>
            </a:r>
            <a:r>
              <a:rPr lang="en-PH" dirty="0"/>
              <a:t>+ </a:t>
            </a:r>
            <a:r>
              <a:rPr lang="en-PH" dirty="0">
                <a:solidFill>
                  <a:srgbClr val="00B050"/>
                </a:solidFill>
              </a:rPr>
              <a:t>Good Implementation</a:t>
            </a:r>
            <a:endParaRPr lang="en-PH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87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AB5D-B681-0092-BE5F-3EF17669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Algorithm or Method versus Data Structure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97A83-373E-E79B-92B5-354500CCA43E}"/>
              </a:ext>
            </a:extLst>
          </p:cNvPr>
          <p:cNvSpPr txBox="1"/>
          <p:nvPr/>
        </p:nvSpPr>
        <p:spPr>
          <a:xfrm>
            <a:off x="701040" y="2011543"/>
            <a:ext cx="5269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b="1" dirty="0"/>
              <a:t>Problem: </a:t>
            </a:r>
            <a:r>
              <a:rPr lang="en-PH" dirty="0"/>
              <a:t>Compute the average of three (3) numbers</a:t>
            </a:r>
            <a:endParaRPr lang="en-PH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1A97B0-8167-6A0E-4683-9F5669BF4CD4}"/>
              </a:ext>
            </a:extLst>
          </p:cNvPr>
          <p:cNvSpPr txBox="1"/>
          <p:nvPr/>
        </p:nvSpPr>
        <p:spPr>
          <a:xfrm>
            <a:off x="701040" y="2516658"/>
            <a:ext cx="540512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b="1" dirty="0"/>
              <a:t>Two Methods:	</a:t>
            </a:r>
            <a:r>
              <a:rPr lang="en-PH" dirty="0">
                <a:solidFill>
                  <a:schemeClr val="accent1"/>
                </a:solidFill>
              </a:rPr>
              <a:t>(1) aver = ( x + y + z ) / 3</a:t>
            </a:r>
          </a:p>
          <a:p>
            <a:r>
              <a:rPr lang="en-PH" b="1" dirty="0">
                <a:solidFill>
                  <a:schemeClr val="accent1"/>
                </a:solidFill>
              </a:rPr>
              <a:t>		</a:t>
            </a:r>
            <a:r>
              <a:rPr lang="en-PH" dirty="0">
                <a:solidFill>
                  <a:schemeClr val="accent6">
                    <a:lumMod val="75000"/>
                  </a:schemeClr>
                </a:solidFill>
              </a:rPr>
              <a:t>(2) aver = ( x/3 ) + ( y/3 ) + ( z/3 )</a:t>
            </a:r>
            <a:endParaRPr lang="en-PH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163EF-BAA7-51FD-2672-57564357AA28}"/>
              </a:ext>
            </a:extLst>
          </p:cNvPr>
          <p:cNvSpPr txBox="1"/>
          <p:nvPr/>
        </p:nvSpPr>
        <p:spPr>
          <a:xfrm>
            <a:off x="701040" y="3339412"/>
            <a:ext cx="540512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tx1"/>
                </a:solidFill>
              </a:rPr>
              <a:t>Data Structures:</a:t>
            </a:r>
          </a:p>
          <a:p>
            <a:pPr marL="342900" indent="-342900">
              <a:buAutoNum type="arabicPeriod"/>
            </a:pPr>
            <a:r>
              <a:rPr lang="en-PH" dirty="0">
                <a:solidFill>
                  <a:schemeClr val="tx1"/>
                </a:solidFill>
              </a:rPr>
              <a:t>Three variables x, y and z.</a:t>
            </a:r>
          </a:p>
          <a:p>
            <a:pPr marL="342900" indent="-342900">
              <a:buAutoNum type="arabicPeriod"/>
            </a:pPr>
            <a:r>
              <a:rPr lang="en-PH" dirty="0">
                <a:solidFill>
                  <a:schemeClr val="tx1"/>
                </a:solidFill>
              </a:rPr>
              <a:t>An array </a:t>
            </a:r>
            <a:r>
              <a:rPr lang="en-PH" dirty="0" err="1">
                <a:solidFill>
                  <a:schemeClr val="tx1"/>
                </a:solidFill>
              </a:rPr>
              <a:t>nums</a:t>
            </a:r>
            <a:r>
              <a:rPr lang="en-PH" dirty="0">
                <a:solidFill>
                  <a:schemeClr val="tx1"/>
                </a:solidFill>
              </a:rPr>
              <a:t>[0..2].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PH" dirty="0">
                <a:solidFill>
                  <a:schemeClr val="tx1"/>
                </a:solidFill>
              </a:rPr>
              <a:t>This is inferior to (1) because accessing takes more time than accessing a simple variable.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PH" dirty="0">
                <a:solidFill>
                  <a:schemeClr val="tx1"/>
                </a:solidFill>
              </a:rPr>
              <a:t>When there are large number of data-items, naming individual items is not practical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PH" dirty="0">
                <a:solidFill>
                  <a:schemeClr val="tx1"/>
                </a:solidFill>
              </a:rPr>
              <a:t>Use of individually named data-items is not suitable when varying number of data-items are involved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2153D-15FD-1DB1-DEA9-6A409B13CDAD}"/>
              </a:ext>
            </a:extLst>
          </p:cNvPr>
          <p:cNvSpPr txBox="1"/>
          <p:nvPr/>
        </p:nvSpPr>
        <p:spPr>
          <a:xfrm>
            <a:off x="6319520" y="2222431"/>
            <a:ext cx="540512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accent2"/>
                </a:solidFill>
              </a:rPr>
              <a:t>A Poor Implementation of (1) : </a:t>
            </a:r>
            <a:r>
              <a:rPr lang="en-PH" dirty="0">
                <a:solidFill>
                  <a:schemeClr val="tx1"/>
                </a:solidFill>
              </a:rPr>
              <a:t>Using 3 additions and 1 division</a:t>
            </a:r>
          </a:p>
          <a:p>
            <a:pPr lvl="2"/>
            <a:r>
              <a:rPr lang="en-PH" dirty="0">
                <a:solidFill>
                  <a:srgbClr val="00B050"/>
                </a:solidFill>
              </a:rPr>
              <a:t>a = x + y</a:t>
            </a:r>
            <a:r>
              <a:rPr lang="en-PH" dirty="0">
                <a:solidFill>
                  <a:schemeClr val="accent2"/>
                </a:solidFill>
              </a:rPr>
              <a:t> ;  </a:t>
            </a:r>
            <a:r>
              <a:rPr lang="en-PH" i="1" dirty="0">
                <a:solidFill>
                  <a:schemeClr val="tx1"/>
                </a:solidFill>
              </a:rPr>
              <a:t>// uses 2 additional assignments</a:t>
            </a:r>
          </a:p>
          <a:p>
            <a:pPr lvl="2"/>
            <a:r>
              <a:rPr lang="en-PH" dirty="0">
                <a:solidFill>
                  <a:schemeClr val="accent3">
                    <a:lumMod val="75000"/>
                  </a:schemeClr>
                </a:solidFill>
              </a:rPr>
              <a:t>b = a + z</a:t>
            </a:r>
            <a:r>
              <a:rPr lang="en-PH" dirty="0">
                <a:solidFill>
                  <a:schemeClr val="accent2"/>
                </a:solidFill>
              </a:rPr>
              <a:t>;</a:t>
            </a:r>
          </a:p>
          <a:p>
            <a:pPr lvl="2"/>
            <a:r>
              <a:rPr lang="en-PH" dirty="0">
                <a:solidFill>
                  <a:schemeClr val="accent2"/>
                </a:solidFill>
              </a:rPr>
              <a:t> </a:t>
            </a:r>
            <a:r>
              <a:rPr lang="en-PH" dirty="0">
                <a:solidFill>
                  <a:schemeClr val="tx1"/>
                </a:solidFill>
              </a:rPr>
              <a:t>aver = b /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508F8-E406-8E75-6B02-D91112FD3148}"/>
              </a:ext>
            </a:extLst>
          </p:cNvPr>
          <p:cNvSpPr txBox="1"/>
          <p:nvPr/>
        </p:nvSpPr>
        <p:spPr>
          <a:xfrm>
            <a:off x="6319520" y="3868351"/>
            <a:ext cx="540512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accent6">
                    <a:lumMod val="75000"/>
                  </a:schemeClr>
                </a:solidFill>
              </a:rPr>
              <a:t>A Poor Implementation of (2) : </a:t>
            </a:r>
            <a:r>
              <a:rPr lang="en-PH" dirty="0">
                <a:solidFill>
                  <a:schemeClr val="tx1"/>
                </a:solidFill>
              </a:rPr>
              <a:t>Using 3 additions and 3 division</a:t>
            </a:r>
          </a:p>
          <a:p>
            <a:pPr lvl="2"/>
            <a:r>
              <a:rPr lang="en-PH" dirty="0">
                <a:solidFill>
                  <a:srgbClr val="00B050"/>
                </a:solidFill>
              </a:rPr>
              <a:t>a = x / 3</a:t>
            </a:r>
            <a:r>
              <a:rPr lang="en-PH" dirty="0">
                <a:solidFill>
                  <a:schemeClr val="accent2"/>
                </a:solidFill>
              </a:rPr>
              <a:t> ;  </a:t>
            </a:r>
            <a:r>
              <a:rPr lang="en-PH" i="1" dirty="0">
                <a:solidFill>
                  <a:schemeClr val="tx1"/>
                </a:solidFill>
              </a:rPr>
              <a:t>// uses 5 additional assignments</a:t>
            </a:r>
          </a:p>
          <a:p>
            <a:pPr lvl="2"/>
            <a:r>
              <a:rPr lang="en-PH" dirty="0">
                <a:solidFill>
                  <a:schemeClr val="accent3">
                    <a:lumMod val="75000"/>
                  </a:schemeClr>
                </a:solidFill>
              </a:rPr>
              <a:t>b = y / 3</a:t>
            </a:r>
            <a:r>
              <a:rPr lang="en-PH" dirty="0">
                <a:solidFill>
                  <a:schemeClr val="accent2"/>
                </a:solidFill>
              </a:rPr>
              <a:t>;</a:t>
            </a:r>
          </a:p>
          <a:p>
            <a:pPr lvl="2"/>
            <a:r>
              <a:rPr lang="en-PH" dirty="0">
                <a:solidFill>
                  <a:srgbClr val="0070C0"/>
                </a:solidFill>
              </a:rPr>
              <a:t>c = z /3;</a:t>
            </a:r>
          </a:p>
          <a:p>
            <a:pPr lvl="2"/>
            <a:r>
              <a:rPr lang="en-PH" dirty="0">
                <a:solidFill>
                  <a:srgbClr val="002060"/>
                </a:solidFill>
              </a:rPr>
              <a:t>d = a + b;</a:t>
            </a:r>
          </a:p>
          <a:p>
            <a:pPr lvl="2"/>
            <a:r>
              <a:rPr lang="en-PH" dirty="0">
                <a:solidFill>
                  <a:schemeClr val="accent2"/>
                </a:solidFill>
              </a:rPr>
              <a:t>e = c + d;</a:t>
            </a:r>
          </a:p>
          <a:p>
            <a:pPr lvl="2"/>
            <a:r>
              <a:rPr lang="en-PH" dirty="0">
                <a:solidFill>
                  <a:schemeClr val="accent2"/>
                </a:solidFill>
              </a:rPr>
              <a:t> </a:t>
            </a:r>
            <a:r>
              <a:rPr lang="en-PH" dirty="0">
                <a:solidFill>
                  <a:schemeClr val="tx1"/>
                </a:solidFill>
              </a:rPr>
              <a:t>aver = e</a:t>
            </a:r>
          </a:p>
        </p:txBody>
      </p:sp>
    </p:spTree>
    <p:extLst>
      <p:ext uri="{BB962C8B-B14F-4D97-AF65-F5344CB8AC3E}">
        <p14:creationId xmlns:p14="http://schemas.microsoft.com/office/powerpoint/2010/main" val="68186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AB5D-B681-0092-BE5F-3EF17669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Limits of Efficiency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163EF-BAA7-51FD-2672-57564357AA28}"/>
              </a:ext>
            </a:extLst>
          </p:cNvPr>
          <p:cNvSpPr txBox="1"/>
          <p:nvPr/>
        </p:nvSpPr>
        <p:spPr>
          <a:xfrm>
            <a:off x="1239520" y="2160191"/>
            <a:ext cx="5008880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tx1"/>
                </a:solidFill>
              </a:rPr>
              <a:t>Hardware Limit:</a:t>
            </a:r>
          </a:p>
          <a:p>
            <a:endParaRPr lang="en-PH" b="1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PH" dirty="0">
                <a:solidFill>
                  <a:schemeClr val="tx1"/>
                </a:solidFill>
              </a:rPr>
              <a:t>Physical limits of time (speed of electrons) and space (layout of circuits). This limit is computation problem </a:t>
            </a:r>
            <a:r>
              <a:rPr lang="en-PH" i="1" dirty="0">
                <a:solidFill>
                  <a:srgbClr val="0070C0"/>
                </a:solidFill>
              </a:rPr>
              <a:t>independent.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PH" i="1" dirty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PH" dirty="0">
                <a:solidFill>
                  <a:schemeClr val="tx1"/>
                </a:solidFill>
              </a:rPr>
              <a:t>From 5 </a:t>
            </a:r>
            <a:r>
              <a:rPr lang="en-PH" dirty="0" err="1">
                <a:solidFill>
                  <a:schemeClr val="tx1"/>
                </a:solidFill>
              </a:rPr>
              <a:t>mips</a:t>
            </a:r>
            <a:r>
              <a:rPr lang="en-PH" dirty="0">
                <a:solidFill>
                  <a:schemeClr val="tx1"/>
                </a:solidFill>
              </a:rPr>
              <a:t> (millions of instruction per second) to 10 </a:t>
            </a:r>
            <a:r>
              <a:rPr lang="en-PH" dirty="0" err="1">
                <a:solidFill>
                  <a:schemeClr val="tx1"/>
                </a:solidFill>
              </a:rPr>
              <a:t>mips</a:t>
            </a:r>
            <a:r>
              <a:rPr lang="en-PH" dirty="0">
                <a:solidFill>
                  <a:schemeClr val="tx1"/>
                </a:solidFill>
              </a:rPr>
              <a:t> is an improvement by the factor of 2.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PH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PH" dirty="0">
                <a:solidFill>
                  <a:schemeClr val="tx1"/>
                </a:solidFill>
              </a:rPr>
              <a:t>One nano-second = 10 raised to the power of -9 (one billionth of a second) a 10 </a:t>
            </a:r>
            <a:r>
              <a:rPr lang="en-PH" dirty="0" err="1">
                <a:solidFill>
                  <a:schemeClr val="tx1"/>
                </a:solidFill>
              </a:rPr>
              <a:t>mips</a:t>
            </a:r>
            <a:r>
              <a:rPr lang="en-PH" dirty="0">
                <a:solidFill>
                  <a:schemeClr val="tx1"/>
                </a:solidFill>
              </a:rPr>
              <a:t> is equivalent to 100 ns/instruction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508F8-E406-8E75-6B02-D91112FD3148}"/>
              </a:ext>
            </a:extLst>
          </p:cNvPr>
          <p:cNvSpPr txBox="1"/>
          <p:nvPr/>
        </p:nvSpPr>
        <p:spPr>
          <a:xfrm>
            <a:off x="6390640" y="2160191"/>
            <a:ext cx="4856480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tx1"/>
                </a:solidFill>
              </a:rPr>
              <a:t>Software Limit</a:t>
            </a:r>
          </a:p>
          <a:p>
            <a:endParaRPr lang="en-PH" dirty="0">
              <a:solidFill>
                <a:schemeClr val="accent6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PH" i="1" dirty="0">
                <a:solidFill>
                  <a:schemeClr val="accent6">
                    <a:lumMod val="75000"/>
                  </a:schemeClr>
                </a:solidFill>
              </a:rPr>
              <a:t>Limitless</a:t>
            </a:r>
            <a:r>
              <a:rPr lang="en-PH" dirty="0">
                <a:solidFill>
                  <a:schemeClr val="tx1"/>
                </a:solidFill>
              </a:rPr>
              <a:t> in a way, except for the inherent nature of the problem. That is, the limit is </a:t>
            </a:r>
            <a:r>
              <a:rPr lang="en-PH" i="1" dirty="0">
                <a:solidFill>
                  <a:schemeClr val="accent6">
                    <a:lumMod val="75000"/>
                  </a:schemeClr>
                </a:solidFill>
              </a:rPr>
              <a:t>problem dependent</a:t>
            </a:r>
            <a:r>
              <a:rPr lang="en-PH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PH" dirty="0">
              <a:solidFill>
                <a:schemeClr val="tx1"/>
              </a:solidFill>
            </a:endParaRPr>
          </a:p>
          <a:p>
            <a:pPr lvl="1"/>
            <a:endParaRPr lang="en-PH" dirty="0">
              <a:solidFill>
                <a:schemeClr val="tx1"/>
              </a:solidFill>
            </a:endParaRPr>
          </a:p>
          <a:p>
            <a:pPr lvl="1"/>
            <a:r>
              <a:rPr lang="en-PH" dirty="0">
                <a:solidFill>
                  <a:schemeClr val="tx1"/>
                </a:solidFill>
              </a:rPr>
              <a:t>	</a:t>
            </a:r>
          </a:p>
          <a:p>
            <a:pPr lvl="1"/>
            <a:r>
              <a:rPr lang="en-PH" dirty="0">
                <a:solidFill>
                  <a:srgbClr val="002060"/>
                </a:solidFill>
              </a:rPr>
              <a:t>A1 is an improvement over A2 by the factor </a:t>
            </a:r>
          </a:p>
          <a:p>
            <a:pPr lvl="1"/>
            <a:endParaRPr lang="en-PH" dirty="0">
              <a:solidFill>
                <a:srgbClr val="002060"/>
              </a:solidFill>
            </a:endParaRPr>
          </a:p>
          <a:p>
            <a:pPr lvl="1"/>
            <a:r>
              <a:rPr lang="en-PH" dirty="0">
                <a:solidFill>
                  <a:srgbClr val="002060"/>
                </a:solidFill>
              </a:rPr>
              <a:t>   </a:t>
            </a:r>
          </a:p>
          <a:p>
            <a:pPr lvl="1"/>
            <a:endParaRPr lang="en-PH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PH" i="1" dirty="0">
                <a:solidFill>
                  <a:schemeClr val="accent6">
                    <a:lumMod val="75000"/>
                  </a:schemeClr>
                </a:solidFill>
              </a:rPr>
              <a:t>O (n. log n) </a:t>
            </a:r>
            <a:r>
              <a:rPr lang="en-PH" dirty="0">
                <a:solidFill>
                  <a:schemeClr val="tx1"/>
                </a:solidFill>
              </a:rPr>
              <a:t>is the efficiency limit for sorting algorithm.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4F51F-CBDF-CDD6-6EC8-F4E4D486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712" y="3688081"/>
            <a:ext cx="3848488" cy="63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F5518F-F084-A303-47FA-C6480D66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843" y="4745912"/>
            <a:ext cx="370519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70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AB5D-B681-0092-BE5F-3EF17669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Measuring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A4B3C-112C-445C-AD0D-791CAE595D8F}"/>
              </a:ext>
            </a:extLst>
          </p:cNvPr>
          <p:cNvSpPr txBox="1"/>
          <p:nvPr/>
        </p:nvSpPr>
        <p:spPr>
          <a:xfrm>
            <a:off x="1239520" y="2109391"/>
            <a:ext cx="5008880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tx1"/>
                </a:solidFill>
              </a:rPr>
              <a:t>Analytic Method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PH" dirty="0">
                <a:solidFill>
                  <a:schemeClr val="tx1"/>
                </a:solidFill>
              </a:rPr>
              <a:t>Theoretical analysis of the Algorithm’s time complexity.</a:t>
            </a:r>
          </a:p>
          <a:p>
            <a:endParaRPr lang="en-PH" dirty="0">
              <a:solidFill>
                <a:schemeClr val="tx1"/>
              </a:solidFill>
            </a:endParaRPr>
          </a:p>
          <a:p>
            <a:r>
              <a:rPr lang="en-PH" b="1" dirty="0">
                <a:solidFill>
                  <a:schemeClr val="tx1"/>
                </a:solidFill>
              </a:rPr>
              <a:t>Empirical Method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PH" dirty="0">
                <a:solidFill>
                  <a:schemeClr val="tx1"/>
                </a:solidFill>
              </a:rPr>
              <a:t>Count the number of times specific operations are performed by executing an instrumented version of the program.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PH" dirty="0">
                <a:solidFill>
                  <a:schemeClr val="tx1"/>
                </a:solidFill>
              </a:rPr>
              <a:t>Measure directly the actual program-execution in time in a run.</a:t>
            </a:r>
          </a:p>
          <a:p>
            <a:endParaRPr lang="en-PH" dirty="0">
              <a:solidFill>
                <a:schemeClr val="tx1"/>
              </a:solidFill>
            </a:endParaRPr>
          </a:p>
          <a:p>
            <a:endParaRPr lang="en-PH" dirty="0">
              <a:solidFill>
                <a:schemeClr val="tx1"/>
              </a:solidFill>
            </a:endParaRPr>
          </a:p>
          <a:p>
            <a:endParaRPr lang="en-PH" dirty="0">
              <a:solidFill>
                <a:schemeClr val="tx1"/>
              </a:solidFill>
            </a:endParaRPr>
          </a:p>
          <a:p>
            <a:endParaRPr lang="en-PH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9D67F-13AD-BD62-AAFD-067B4CD81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930" y="5039360"/>
            <a:ext cx="4268059" cy="8960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E4E675-9E3A-090F-1728-0D894FAA3E31}"/>
              </a:ext>
            </a:extLst>
          </p:cNvPr>
          <p:cNvSpPr txBox="1"/>
          <p:nvPr/>
        </p:nvSpPr>
        <p:spPr>
          <a:xfrm>
            <a:off x="6370320" y="2109391"/>
            <a:ext cx="5008880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b="1" dirty="0">
                <a:solidFill>
                  <a:schemeClr val="tx1"/>
                </a:solidFill>
              </a:rPr>
              <a:t>Questions</a:t>
            </a:r>
          </a:p>
          <a:p>
            <a:pPr marL="342900" indent="-342900">
              <a:buAutoNum type="arabicPeriod"/>
            </a:pPr>
            <a:r>
              <a:rPr lang="en-PH" dirty="0">
                <a:solidFill>
                  <a:schemeClr val="tx1"/>
                </a:solidFill>
              </a:rPr>
              <a:t>What is wrong with the following instrumentation?</a:t>
            </a:r>
          </a:p>
          <a:p>
            <a:endParaRPr lang="en-PH" dirty="0">
              <a:solidFill>
                <a:schemeClr val="tx1"/>
              </a:solidFill>
            </a:endParaRPr>
          </a:p>
          <a:p>
            <a:endParaRPr lang="en-PH" dirty="0">
              <a:solidFill>
                <a:schemeClr val="tx1"/>
              </a:solidFill>
            </a:endParaRPr>
          </a:p>
          <a:p>
            <a:r>
              <a:rPr lang="en-PH" dirty="0">
                <a:solidFill>
                  <a:schemeClr val="tx1"/>
                </a:solidFill>
              </a:rPr>
              <a:t>2. Instrument the code below for </a:t>
            </a:r>
            <a:r>
              <a:rPr lang="en-PH" dirty="0" err="1">
                <a:solidFill>
                  <a:schemeClr val="tx1"/>
                </a:solidFill>
              </a:rPr>
              <a:t>readCount</a:t>
            </a:r>
            <a:r>
              <a:rPr lang="en-PH" dirty="0">
                <a:solidFill>
                  <a:schemeClr val="tx1"/>
                </a:solidFill>
              </a:rPr>
              <a:t> and </a:t>
            </a:r>
            <a:r>
              <a:rPr lang="en-PH" dirty="0" err="1">
                <a:solidFill>
                  <a:schemeClr val="tx1"/>
                </a:solidFill>
              </a:rPr>
              <a:t>writeCount</a:t>
            </a:r>
            <a:r>
              <a:rPr lang="en-PH" dirty="0">
                <a:solidFill>
                  <a:schemeClr val="tx1"/>
                </a:solidFill>
              </a:rPr>
              <a:t> of x.</a:t>
            </a:r>
          </a:p>
          <a:p>
            <a:endParaRPr lang="en-PH" dirty="0">
              <a:solidFill>
                <a:schemeClr val="tx1"/>
              </a:solidFill>
            </a:endParaRPr>
          </a:p>
          <a:p>
            <a:endParaRPr lang="en-PH" dirty="0">
              <a:solidFill>
                <a:schemeClr val="tx1"/>
              </a:solidFill>
            </a:endParaRPr>
          </a:p>
          <a:p>
            <a:r>
              <a:rPr lang="en-PH" dirty="0">
                <a:solidFill>
                  <a:schemeClr val="tx1"/>
                </a:solidFill>
              </a:rPr>
              <a:t>3. Show the new code when updates to </a:t>
            </a:r>
            <a:r>
              <a:rPr lang="en-PH" dirty="0" err="1">
                <a:solidFill>
                  <a:schemeClr val="tx1"/>
                </a:solidFill>
              </a:rPr>
              <a:t>loopCount</a:t>
            </a:r>
            <a:r>
              <a:rPr lang="en-PH" dirty="0">
                <a:solidFill>
                  <a:schemeClr val="tx1"/>
                </a:solidFill>
              </a:rPr>
              <a:t> is moved outside the loop.</a:t>
            </a:r>
          </a:p>
          <a:p>
            <a:endParaRPr lang="en-PH" dirty="0">
              <a:solidFill>
                <a:schemeClr val="tx1"/>
              </a:solidFill>
            </a:endParaRPr>
          </a:p>
          <a:p>
            <a:endParaRPr lang="en-PH" dirty="0">
              <a:solidFill>
                <a:schemeClr val="tx1"/>
              </a:solidFill>
            </a:endParaRPr>
          </a:p>
          <a:p>
            <a:endParaRPr lang="en-PH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A12955-D87D-10F4-1404-48D8ECF09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354" y="3035657"/>
            <a:ext cx="3990126" cy="3933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429D7A-D35C-A7EE-4F1B-2C37263C0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837" y="4125611"/>
            <a:ext cx="3019846" cy="29740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17713B-D96C-19CF-261C-E48CAEE52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837" y="5252720"/>
            <a:ext cx="3019846" cy="6827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708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AB5D-B681-0092-BE5F-3EF17669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Exercises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5574F-658F-39E2-CB9D-71ABB9E54F01}"/>
              </a:ext>
            </a:extLst>
          </p:cNvPr>
          <p:cNvSpPr txBox="1"/>
          <p:nvPr/>
        </p:nvSpPr>
        <p:spPr>
          <a:xfrm>
            <a:off x="609600" y="2135920"/>
            <a:ext cx="5943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PH" dirty="0"/>
              <a:t>Instrument the code below to count the number of exchanges (</a:t>
            </a:r>
            <a:r>
              <a:rPr lang="en-PH" dirty="0" err="1"/>
              <a:t>numExchanges</a:t>
            </a:r>
            <a:r>
              <a:rPr lang="en-PH" dirty="0"/>
              <a:t>) and number of comparisons (</a:t>
            </a:r>
            <a:r>
              <a:rPr lang="en-PH" dirty="0" err="1"/>
              <a:t>numComparisons</a:t>
            </a:r>
            <a:r>
              <a:rPr lang="en-PH" dirty="0"/>
              <a:t>) of the array data-items. Show the values of </a:t>
            </a:r>
            <a:r>
              <a:rPr lang="en-PH" dirty="0" err="1"/>
              <a:t>numExchanges</a:t>
            </a:r>
            <a:r>
              <a:rPr lang="en-PH" dirty="0"/>
              <a:t> and </a:t>
            </a:r>
            <a:r>
              <a:rPr lang="en-PH" dirty="0" err="1"/>
              <a:t>numComparisons</a:t>
            </a:r>
            <a:r>
              <a:rPr lang="en-PH" dirty="0"/>
              <a:t> after each iteration of the outer for-loop for the input item[] = [3,2,4,5,2,0].</a:t>
            </a:r>
          </a:p>
          <a:p>
            <a:pPr marL="342900" indent="-342900" algn="just">
              <a:buAutoNum type="arabicPeriod"/>
            </a:pPr>
            <a:endParaRPr lang="en-PH" dirty="0"/>
          </a:p>
          <a:p>
            <a:pPr marL="342900" indent="-342900" algn="just">
              <a:buAutoNum type="arabicPeriod"/>
            </a:pPr>
            <a:endParaRPr lang="en-PH" dirty="0"/>
          </a:p>
          <a:p>
            <a:pPr marL="342900" indent="-342900" algn="just">
              <a:buAutoNum type="arabicPeriod"/>
            </a:pPr>
            <a:endParaRPr lang="en-PH" dirty="0"/>
          </a:p>
          <a:p>
            <a:pPr marL="342900" indent="-342900" algn="just">
              <a:buAutoNum type="arabicPeriod"/>
            </a:pPr>
            <a:endParaRPr lang="en-PH" dirty="0"/>
          </a:p>
          <a:p>
            <a:pPr marL="342900" indent="-342900" algn="just">
              <a:buAutoNum type="arabicPeriod"/>
            </a:pPr>
            <a:endParaRPr lang="en-PH" dirty="0"/>
          </a:p>
          <a:p>
            <a:pPr marL="342900" indent="-342900" algn="just">
              <a:buAutoNum type="arabicPeriod"/>
            </a:pPr>
            <a:endParaRPr lang="en-PH" dirty="0"/>
          </a:p>
          <a:p>
            <a:pPr marL="342900" indent="-342900" algn="just">
              <a:buAutoNum type="arabicPeriod"/>
            </a:pPr>
            <a:endParaRPr lang="en-PH" dirty="0"/>
          </a:p>
          <a:p>
            <a:pPr algn="just"/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EC4D3-53BF-2937-36D5-5BC5C56D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33" y="4019479"/>
            <a:ext cx="5681567" cy="19991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4634F0-9F38-915A-6FA8-C7158B8096AC}"/>
              </a:ext>
            </a:extLst>
          </p:cNvPr>
          <p:cNvSpPr txBox="1"/>
          <p:nvPr/>
        </p:nvSpPr>
        <p:spPr>
          <a:xfrm>
            <a:off x="6906673" y="2643751"/>
            <a:ext cx="45051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lphaLcParenBoth"/>
            </a:pPr>
            <a:r>
              <a:rPr lang="en-PH" dirty="0"/>
              <a:t>If “i &lt; </a:t>
            </a:r>
            <a:r>
              <a:rPr lang="en-PH" dirty="0" err="1"/>
              <a:t>numItems</a:t>
            </a:r>
            <a:r>
              <a:rPr lang="en-PH" dirty="0"/>
              <a:t>–1” in place of “i&lt;</a:t>
            </a:r>
            <a:r>
              <a:rPr lang="en-PH" dirty="0" err="1"/>
              <a:t>numItems</a:t>
            </a:r>
            <a:r>
              <a:rPr lang="en-PH" dirty="0"/>
              <a:t>” in the outer for-loop, do the loop have the same result? Will it affect the execution time?</a:t>
            </a:r>
          </a:p>
          <a:p>
            <a:pPr marL="342900" indent="-342900" algn="just">
              <a:buAutoNum type="alphaLcParenBoth"/>
            </a:pPr>
            <a:endParaRPr lang="en-PH" dirty="0"/>
          </a:p>
          <a:p>
            <a:pPr marL="342900" indent="-342900" algn="just">
              <a:buAutoNum type="alphaLcParenBoth"/>
            </a:pPr>
            <a:r>
              <a:rPr lang="en-PH" dirty="0"/>
              <a:t>Is the algorithm in the code more closely related to insertion-sort or selection-sort? In what way does it differ from that?</a:t>
            </a:r>
          </a:p>
        </p:txBody>
      </p:sp>
    </p:spTree>
    <p:extLst>
      <p:ext uri="{BB962C8B-B14F-4D97-AF65-F5344CB8AC3E}">
        <p14:creationId xmlns:p14="http://schemas.microsoft.com/office/powerpoint/2010/main" val="2870200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AB5D-B681-0092-BE5F-3EF17669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Exercises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5574F-658F-39E2-CB9D-71ABB9E54F01}"/>
              </a:ext>
            </a:extLst>
          </p:cNvPr>
          <p:cNvSpPr txBox="1"/>
          <p:nvPr/>
        </p:nvSpPr>
        <p:spPr>
          <a:xfrm>
            <a:off x="1412240" y="2268000"/>
            <a:ext cx="974344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2"/>
            </a:pPr>
            <a:r>
              <a:rPr lang="en-PH" sz="2400" dirty="0"/>
              <a:t>Given an array lengths[1..n] of the lengths of n line segments, find a method for testing if they can form a polygon (quadrilateral for n=4, pentagon for n=5, etc.).</a:t>
            </a:r>
          </a:p>
          <a:p>
            <a:pPr marL="342900" indent="-342900" algn="just">
              <a:buFont typeface="+mj-lt"/>
              <a:buAutoNum type="arabicPeriod" startAt="2"/>
            </a:pPr>
            <a:r>
              <a:rPr lang="en-PH" sz="2400" dirty="0"/>
              <a:t>Give a pseudocode for deciding whether three given line segments of lengths x, y and z can form a triangle, and if so whether it is a right–angled, obtuse-angled, or an acute-angled triangle. Make sure that you minimize the total number operations (arithmetic and comparisons of data-items)</a:t>
            </a:r>
          </a:p>
          <a:p>
            <a:pPr marL="342900" indent="-342900" algn="just">
              <a:buFont typeface="+mj-lt"/>
              <a:buAutoNum type="arabicPeriod" startAt="2"/>
            </a:pPr>
            <a:endParaRPr lang="en-PH" dirty="0"/>
          </a:p>
          <a:p>
            <a:pPr marL="342900" indent="-342900" algn="just">
              <a:buFont typeface="+mj-lt"/>
              <a:buAutoNum type="arabicPeriod" startAt="2"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2975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{45903FB5-9891-4B6F-A0AC-236AA197E579}tf22712842_win32</Template>
  <TotalTime>145</TotalTime>
  <Words>807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Franklin Gothic Book</vt:lpstr>
      <vt:lpstr>Wingdings</vt:lpstr>
      <vt:lpstr>Custom</vt:lpstr>
      <vt:lpstr>MIT 201: Advanced Data Structure &amp; Algorithm Analysis</vt:lpstr>
      <vt:lpstr>Chapter 1: Overview Data Structure and Algorithm</vt:lpstr>
      <vt:lpstr>Role of Data Structures in Computation</vt:lpstr>
      <vt:lpstr>Role of Data Structures in Computation</vt:lpstr>
      <vt:lpstr>Algorithm or Method versus Data Structure </vt:lpstr>
      <vt:lpstr>Limits of Efficiency</vt:lpstr>
      <vt:lpstr>Measuring Performance</vt:lpstr>
      <vt:lpstr>Exercises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ICT OFFICE</dc:creator>
  <cp:lastModifiedBy>ICT OFFICE</cp:lastModifiedBy>
  <cp:revision>3</cp:revision>
  <dcterms:created xsi:type="dcterms:W3CDTF">2024-08-19T01:55:27Z</dcterms:created>
  <dcterms:modified xsi:type="dcterms:W3CDTF">2024-08-31T02:03:44Z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